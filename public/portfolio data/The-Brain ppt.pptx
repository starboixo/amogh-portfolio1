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Platypi Medium" panose="020B0604020202020204" charset="0"/>
      <p:regular r:id="rId13"/>
    </p:embeddedFont>
    <p:embeddedFont>
      <p:font typeface="Source Serif 4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2399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5" Type="http://schemas.openxmlformats.org/officeDocument/2006/relationships/image" Target="../media/image11.sv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5" Type="http://schemas.openxmlformats.org/officeDocument/2006/relationships/image" Target="../media/image2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88667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Brain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935611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Backend Reasoning &amp; Analysis Intelligence Network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Sovereign Agentic Intelligence Engine for NGUK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4916567"/>
            <a:ext cx="2702243" cy="426244"/>
          </a:xfrm>
          <a:prstGeom prst="roundRect">
            <a:avLst>
              <a:gd name="adj" fmla="val 6386"/>
            </a:avLst>
          </a:prstGeom>
          <a:solidFill>
            <a:srgbClr val="F3E3D8"/>
          </a:solidFill>
          <a:ln/>
        </p:spPr>
      </p:sp>
      <p:sp>
        <p:nvSpPr>
          <p:cNvPr id="6" name="Text 3"/>
          <p:cNvSpPr/>
          <p:nvPr/>
        </p:nvSpPr>
        <p:spPr>
          <a:xfrm>
            <a:off x="929878" y="4984552"/>
            <a:ext cx="243006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STRATEGIC BRIEFING ·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4020" y="856536"/>
            <a:ext cx="6385203" cy="6554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Strategic Imperative</a:t>
            </a:r>
            <a:endParaRPr lang="en-US" sz="4100" dirty="0"/>
          </a:p>
        </p:txBody>
      </p:sp>
      <p:sp>
        <p:nvSpPr>
          <p:cNvPr id="4" name="Shape 1"/>
          <p:cNvSpPr/>
          <p:nvPr/>
        </p:nvSpPr>
        <p:spPr>
          <a:xfrm>
            <a:off x="734020" y="1802844"/>
            <a:ext cx="3741063" cy="2154912"/>
          </a:xfrm>
          <a:prstGeom prst="roundRect">
            <a:avLst>
              <a:gd name="adj" fmla="val 1460"/>
            </a:avLst>
          </a:prstGeom>
          <a:solidFill>
            <a:srgbClr val="F9F7F7"/>
          </a:solidFill>
          <a:ln/>
        </p:spPr>
      </p:sp>
      <p:sp>
        <p:nvSpPr>
          <p:cNvPr id="5" name="Text 2"/>
          <p:cNvSpPr/>
          <p:nvPr/>
        </p:nvSpPr>
        <p:spPr>
          <a:xfrm>
            <a:off x="943689" y="2012513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SDR25 Mandate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43689" y="2456498"/>
            <a:ext cx="3321725" cy="1291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 named the </a:t>
            </a: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decisive discriminator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of next-generation warfare. OODA loop acceleration: a national priority.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4668917" y="1802844"/>
            <a:ext cx="3741063" cy="2154912"/>
          </a:xfrm>
          <a:prstGeom prst="roundRect">
            <a:avLst>
              <a:gd name="adj" fmla="val 1460"/>
            </a:avLst>
          </a:prstGeom>
          <a:solidFill>
            <a:srgbClr val="F9F7F7"/>
          </a:solidFill>
          <a:ln/>
        </p:spPr>
      </p:sp>
      <p:sp>
        <p:nvSpPr>
          <p:cNvPr id="8" name="Text 5"/>
          <p:cNvSpPr/>
          <p:nvPr/>
        </p:nvSpPr>
        <p:spPr>
          <a:xfrm>
            <a:off x="4878586" y="2012513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£1.2B Market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4878586" y="2456498"/>
            <a:ext cx="3321725" cy="96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UK defence AI market by 2028 — </a:t>
            </a: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13.4% CAGR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Decision-support systems: 38% of total spend.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34020" y="4151590"/>
            <a:ext cx="7675959" cy="1509117"/>
          </a:xfrm>
          <a:prstGeom prst="roundRect">
            <a:avLst>
              <a:gd name="adj" fmla="val 2085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943689" y="4361259"/>
            <a:ext cx="2621637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Readiness Gap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943689" y="4805243"/>
            <a:ext cx="7256621" cy="645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Commons Defence Committee, Jan 2025: MOD is </a:t>
            </a:r>
            <a:r>
              <a:rPr lang="en-US" sz="16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'not yet AI ready.'</a:t>
            </a:r>
            <a:r>
              <a:rPr lang="en-US" sz="16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 strategic vulnerability, not a bureaucratic one.</a:t>
            </a:r>
            <a:endParaRPr lang="en-US" sz="1650" dirty="0"/>
          </a:p>
        </p:txBody>
      </p:sp>
      <p:sp>
        <p:nvSpPr>
          <p:cNvPr id="13" name="Shape 10"/>
          <p:cNvSpPr/>
          <p:nvPr/>
        </p:nvSpPr>
        <p:spPr>
          <a:xfrm>
            <a:off x="734020" y="5878830"/>
            <a:ext cx="7675959" cy="1494115"/>
          </a:xfrm>
          <a:prstGeom prst="roundRect">
            <a:avLst>
              <a:gd name="adj" fmla="val 2106"/>
            </a:avLst>
          </a:prstGeom>
          <a:solidFill>
            <a:srgbClr val="EDD5C4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89" y="6193631"/>
            <a:ext cx="262057" cy="20966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415415" y="6125051"/>
            <a:ext cx="6784896" cy="968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China's PLA demonstrated LLM-enabled ISR advances throughout 2024</a:t>
            </a:r>
            <a:r>
              <a:rPr lang="en-US" sz="16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decision support, cyber operations, and information campaigns. The window to act is narrow.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3443" y="980361"/>
            <a:ext cx="9096018" cy="5835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NGUK's Position — and the Internal Gap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443" y="2057281"/>
            <a:ext cx="8214836" cy="49288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51432" y="1947982"/>
            <a:ext cx="233386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Sovereign Strength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9551432" y="2393275"/>
            <a:ext cx="4213027" cy="1468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5,000+ personnel across 10+ UK sites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Proven data science, ML &amp; secure cloud capability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Security pedigree no commercial vendor can match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9551432" y="4127785"/>
            <a:ext cx="4213027" cy="30956"/>
          </a:xfrm>
          <a:prstGeom prst="rect">
            <a:avLst/>
          </a:prstGeom>
          <a:solidFill>
            <a:srgbClr val="504C49">
              <a:alpha val="5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551432" y="4331613"/>
            <a:ext cx="4213027" cy="583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Internal Inefficiencies — the Precondition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551432" y="5068610"/>
            <a:ext cx="4213027" cy="1468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Intelligence workflows: manual and labour-intensive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Multi-domain data: siloed</a:t>
            </a:r>
            <a:endParaRPr lang="en-US" sz="145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ITAR / EAR / IATM compliance: error-prone manual processes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551432" y="6675120"/>
            <a:ext cx="4213027" cy="4357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Resolving these is not peripheral — it is prerequisite to MOD performance.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639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Core Objective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768798"/>
            <a:ext cx="4196358" cy="3854291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4270" y="2799278"/>
            <a:ext cx="4135398" cy="680442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5" name="Text 3"/>
          <p:cNvSpPr/>
          <p:nvPr/>
        </p:nvSpPr>
        <p:spPr>
          <a:xfrm>
            <a:off x="2721888" y="292679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1051084" y="3706535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Eliminate Operational Delay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084" y="4551283"/>
            <a:ext cx="368177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agentic AI across intelligence triage and engineering compliance — removing manual, automatable work.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2768798"/>
            <a:ext cx="4196358" cy="3854291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47442" y="2799278"/>
            <a:ext cx="4135398" cy="680442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7145060" y="292679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5474256" y="3706535"/>
            <a:ext cx="364950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Accelerate Decision Cycles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74256" y="4196953"/>
            <a:ext cx="368177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Meet and exceed OODA loop performance required by MOD's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Information Advantage</a:t>
            </a: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mandate.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768798"/>
            <a:ext cx="4196358" cy="3854291"/>
          </a:xfrm>
          <a:prstGeom prst="roundRect">
            <a:avLst>
              <a:gd name="adj" fmla="val 88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0613" y="2799278"/>
            <a:ext cx="4135398" cy="680442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5" name="Text 13"/>
          <p:cNvSpPr/>
          <p:nvPr/>
        </p:nvSpPr>
        <p:spPr>
          <a:xfrm>
            <a:off x="11568232" y="2926794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6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650" dirty="0"/>
          </a:p>
        </p:txBody>
      </p:sp>
      <p:sp>
        <p:nvSpPr>
          <p:cNvPr id="16" name="Text 14"/>
          <p:cNvSpPr/>
          <p:nvPr/>
        </p:nvSpPr>
        <p:spPr>
          <a:xfrm>
            <a:off x="9897427" y="3706535"/>
            <a:ext cx="306264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Generate Sovereign IP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897427" y="4196953"/>
            <a:ext cx="368177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NGUK-owned, NGUK-controlled — licensable to Five Eyes, NATO allies, and UK agencies. </a:t>
            </a:r>
            <a:r>
              <a:rPr lang="en-US" sz="1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£150M+ 5-year value.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84221" y="1459706"/>
            <a:ext cx="4942403" cy="5372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Competitive Landscape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1384221" y="2257425"/>
            <a:ext cx="11861840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AI arms race in defence is accelerating. NGUK must move first in the UK sovereign space.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1384221" y="2645688"/>
            <a:ext cx="11861840" cy="3118009"/>
          </a:xfrm>
          <a:prstGeom prst="roundRect">
            <a:avLst>
              <a:gd name="adj" fmla="val 82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1841" y="2653308"/>
            <a:ext cx="11846600" cy="41314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64005" y="2739033"/>
            <a:ext cx="225873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Organisation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173974" y="2739033"/>
            <a:ext cx="3202662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Capability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727871" y="2739033"/>
            <a:ext cx="3202662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NGUK Implication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281767" y="2739033"/>
            <a:ext cx="1784866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Threat Level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391841" y="3066455"/>
            <a:ext cx="11846600" cy="8965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564005" y="3152180"/>
            <a:ext cx="225873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Palantir AIP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73974" y="3152180"/>
            <a:ext cx="3202662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LLM decision support, drone ISR, edge compute — 20–25% US market share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727871" y="3152180"/>
            <a:ext cx="3202662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US-sovereign; incompatible with UK classified nets. NGUK can own this space domestically.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1281767" y="3152180"/>
            <a:ext cx="1784866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1391841" y="3962995"/>
            <a:ext cx="11846600" cy="896541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564005" y="4048720"/>
            <a:ext cx="225873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Scale AI Defense Llama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173974" y="4048720"/>
            <a:ext cx="3202662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Fine-tuned Llama 3 on classified US mil-spec data — removes AI refusals for military queries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727871" y="4048720"/>
            <a:ext cx="3202662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Direct functional blueprint. NGUK must build UK equivalent before Scale AI pivots to MOD.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281767" y="4048720"/>
            <a:ext cx="1784866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Critical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1391841" y="4859536"/>
            <a:ext cx="11846600" cy="896541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1564005" y="4945261"/>
            <a:ext cx="2258735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Hadean (UK)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173974" y="4945261"/>
            <a:ext cx="3202662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DASA-funded LLM for British Army virtual training — dynamic terrain simulation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727871" y="4945261"/>
            <a:ext cx="3202662" cy="725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Training-domain only. Validates UK appetite. NGUK should pursue parallel sovereign contract.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281767" y="4945261"/>
            <a:ext cx="1784866" cy="241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Medium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384221" y="5910263"/>
            <a:ext cx="11861840" cy="859512"/>
          </a:xfrm>
          <a:prstGeom prst="roundRect">
            <a:avLst>
              <a:gd name="adj" fmla="val 3000"/>
            </a:avLst>
          </a:prstGeom>
          <a:solidFill>
            <a:srgbClr val="EDD5C4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028" y="6149816"/>
            <a:ext cx="214789" cy="171807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942624" y="6083379"/>
            <a:ext cx="11131629" cy="483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Sovereign Build vs. Licence:</a:t>
            </a:r>
            <a:r>
              <a:rPr lang="en-US" sz="13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Licensing creates permanent vendor dependency. Palantir's DoD contract escalated </a:t>
            </a:r>
            <a:r>
              <a:rPr lang="en-US" sz="13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340%</a:t>
            </a:r>
            <a:r>
              <a:rPr lang="en-US" sz="13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over three years. The financial crossover point is </a:t>
            </a:r>
            <a:r>
              <a:rPr lang="en-US" sz="13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Month 14</a:t>
            </a:r>
            <a:r>
              <a:rPr lang="en-US" sz="13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after which the sovereign path dominates on every metric. 3-year NPV advantage: </a:t>
            </a:r>
            <a:r>
              <a:rPr lang="en-US" sz="13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£67.3M.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92987" y="1183124"/>
            <a:ext cx="3870365" cy="481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50"/>
              </a:lnSpc>
              <a:buNone/>
            </a:pPr>
            <a:r>
              <a:rPr lang="en-US" sz="3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987" y="2881313"/>
            <a:ext cx="6787039" cy="31059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64484" y="3299061"/>
            <a:ext cx="1501327" cy="18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RAG Data Layer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964484" y="3540108"/>
            <a:ext cx="1654796" cy="252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Vector DB and document repository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2173581" y="4319964"/>
            <a:ext cx="1501328" cy="18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5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Multi-Agent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153563" y="4561010"/>
            <a:ext cx="1521345" cy="252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95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Retrieval, analysis, risk, validation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964484" y="4910069"/>
            <a:ext cx="1501327" cy="187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Core LLM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964484" y="5151115"/>
            <a:ext cx="1654796" cy="126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Air-gapped private model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9163883" y="1927265"/>
            <a:ext cx="2086094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Five Integrated Layers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9141023" y="2263497"/>
            <a:ext cx="45720" cy="80629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2" name="Text 9"/>
          <p:cNvSpPr/>
          <p:nvPr/>
        </p:nvSpPr>
        <p:spPr>
          <a:xfrm>
            <a:off x="9363789" y="2286357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UI Layer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363789" y="2632353"/>
            <a:ext cx="3281005" cy="41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Structured decision dashboard — insights, risks, evidence, confidence scores.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141023" y="3233857"/>
            <a:ext cx="45720" cy="80629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5" name="Text 12"/>
          <p:cNvSpPr/>
          <p:nvPr/>
        </p:nvSpPr>
        <p:spPr>
          <a:xfrm>
            <a:off x="9363789" y="3256717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Orchestration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9363789" y="3602712"/>
            <a:ext cx="3281005" cy="41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Decomposes queries into auditable reasoning steps.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1023" y="4204216"/>
            <a:ext cx="45720" cy="80629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18" name="Text 15"/>
          <p:cNvSpPr/>
          <p:nvPr/>
        </p:nvSpPr>
        <p:spPr>
          <a:xfrm>
            <a:off x="9363789" y="4227076"/>
            <a:ext cx="2140625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Multi-Agent Workflow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363789" y="4573072"/>
            <a:ext cx="3281005" cy="41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Retrieval → Analysis → Risk → Validation (Critic Agent).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1023" y="5174575"/>
            <a:ext cx="45720" cy="80629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1" name="Text 18"/>
          <p:cNvSpPr/>
          <p:nvPr/>
        </p:nvSpPr>
        <p:spPr>
          <a:xfrm>
            <a:off x="9363789" y="5197435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LLM Core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363789" y="5543431"/>
            <a:ext cx="3281005" cy="41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Privately deployed — zero external API connectivity.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41023" y="6144935"/>
            <a:ext cx="45720" cy="806291"/>
          </a:xfrm>
          <a:prstGeom prst="rect">
            <a:avLst/>
          </a:prstGeom>
          <a:solidFill>
            <a:srgbClr val="3E2513"/>
          </a:solidFill>
          <a:ln/>
        </p:spPr>
      </p:sp>
      <p:sp>
        <p:nvSpPr>
          <p:cNvPr id="24" name="Text 21"/>
          <p:cNvSpPr/>
          <p:nvPr/>
        </p:nvSpPr>
        <p:spPr>
          <a:xfrm>
            <a:off x="9363789" y="6167795"/>
            <a:ext cx="1928217" cy="241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RAG Data Layer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9363789" y="6513790"/>
            <a:ext cx="3281005" cy="414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Vector database grounding all outputs in verified source material.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99411" y="505420"/>
            <a:ext cx="5153025" cy="572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Security &amp; Governance</a:t>
            </a:r>
            <a:endParaRPr lang="en-US" sz="3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411" y="1465302"/>
            <a:ext cx="6092547" cy="6092547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411" y="1465302"/>
            <a:ext cx="6092547" cy="609254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6062" y="2155269"/>
            <a:ext cx="2288262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HITL Governance</a:t>
            </a:r>
            <a:endParaRPr lang="en-US" sz="1800" dirty="0"/>
          </a:p>
        </p:txBody>
      </p:sp>
      <p:sp>
        <p:nvSpPr>
          <p:cNvPr id="6" name="Shape 2"/>
          <p:cNvSpPr/>
          <p:nvPr/>
        </p:nvSpPr>
        <p:spPr>
          <a:xfrm>
            <a:off x="7546062" y="2607469"/>
            <a:ext cx="2972395" cy="1925360"/>
          </a:xfrm>
          <a:prstGeom prst="roundRect">
            <a:avLst>
              <a:gd name="adj" fmla="val 142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751921" y="2813328"/>
            <a:ext cx="2560677" cy="571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Confidence Thresholding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7751921" y="3532942"/>
            <a:ext cx="2560677" cy="794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Outputs below </a:t>
            </a:r>
            <a:r>
              <a:rPr lang="en-US" sz="14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82%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auto-escalate to human reviewer before release.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666095" y="2607469"/>
            <a:ext cx="2972514" cy="1925360"/>
          </a:xfrm>
          <a:prstGeom prst="roundRect">
            <a:avLst>
              <a:gd name="adj" fmla="val 142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0871954" y="2813328"/>
            <a:ext cx="2288262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Decision Ledger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0871954" y="3246953"/>
            <a:ext cx="2560796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Immutable, timestamped audit trail — every inference, source, and reasoning step logged.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546062" y="4680466"/>
            <a:ext cx="2972395" cy="2168723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751921" y="4886325"/>
            <a:ext cx="2524363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Clearance Partitioning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751921" y="5319951"/>
            <a:ext cx="2560677" cy="132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RAG graph segmented: OFFICIAL → OFFICIAL-SENSITIVE → SECRET → TOP SECRET. Architecturally enforced.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10666095" y="4680466"/>
            <a:ext cx="2972514" cy="2168723"/>
          </a:xfrm>
          <a:prstGeom prst="roundRect">
            <a:avLst>
              <a:gd name="adj" fmla="val 1266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871954" y="4886325"/>
            <a:ext cx="2288262" cy="285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Red Team Schedule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10871954" y="5319951"/>
            <a:ext cx="2560796" cy="1058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Monthly adversarial testing — prompt injection, data poisoning, clearance boundary probing.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8247" y="1121688"/>
            <a:ext cx="3513653" cy="439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Ethical Framework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978247" y="1691402"/>
            <a:ext cx="8160306" cy="1243370"/>
          </a:xfrm>
          <a:prstGeom prst="roundRect">
            <a:avLst>
              <a:gd name="adj" fmla="val 1696"/>
            </a:avLst>
          </a:prstGeom>
          <a:solidFill>
            <a:srgbClr val="F9F7F7"/>
          </a:solidFill>
          <a:ln/>
        </p:spPr>
      </p:sp>
      <p:sp>
        <p:nvSpPr>
          <p:cNvPr id="5" name="Shape 2"/>
          <p:cNvSpPr/>
          <p:nvPr/>
        </p:nvSpPr>
        <p:spPr>
          <a:xfrm>
            <a:off x="6118741" y="1831896"/>
            <a:ext cx="421600" cy="421600"/>
          </a:xfrm>
          <a:prstGeom prst="roundRect">
            <a:avLst>
              <a:gd name="adj" fmla="val 21686636"/>
            </a:avLst>
          </a:prstGeom>
          <a:solidFill>
            <a:srgbClr val="3E251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4708" y="1947743"/>
            <a:ext cx="189667" cy="1896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18741" y="2340531"/>
            <a:ext cx="175676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Human Oversight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118741" y="2612350"/>
            <a:ext cx="7879318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Mandatory HITL architecture. Confidence indicators on every output. Decision support only — never autonomous.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978247" y="3021806"/>
            <a:ext cx="8160306" cy="1425297"/>
          </a:xfrm>
          <a:prstGeom prst="roundRect">
            <a:avLst>
              <a:gd name="adj" fmla="val 1479"/>
            </a:avLst>
          </a:prstGeom>
          <a:solidFill>
            <a:srgbClr val="F9F7F7"/>
          </a:solidFill>
          <a:ln/>
        </p:spPr>
      </p:sp>
      <p:sp>
        <p:nvSpPr>
          <p:cNvPr id="10" name="Shape 6"/>
          <p:cNvSpPr/>
          <p:nvPr/>
        </p:nvSpPr>
        <p:spPr>
          <a:xfrm>
            <a:off x="6118741" y="3162300"/>
            <a:ext cx="421600" cy="421600"/>
          </a:xfrm>
          <a:prstGeom prst="roundRect">
            <a:avLst>
              <a:gd name="adj" fmla="val 21686636"/>
            </a:avLst>
          </a:prstGeom>
          <a:solidFill>
            <a:srgbClr val="3E251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4708" y="3278148"/>
            <a:ext cx="189667" cy="18966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18741" y="3670935"/>
            <a:ext cx="1860590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Hallucination Control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118741" y="3942755"/>
            <a:ext cx="7879318" cy="363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RAG grounds all outputs in verified in-house data. Source-linked evidence — every claim traceable to original document.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78247" y="4534138"/>
            <a:ext cx="8160306" cy="1243370"/>
          </a:xfrm>
          <a:prstGeom prst="roundRect">
            <a:avLst>
              <a:gd name="adj" fmla="val 1696"/>
            </a:avLst>
          </a:prstGeom>
          <a:solidFill>
            <a:srgbClr val="F9F7F7"/>
          </a:solidFill>
          <a:ln/>
        </p:spPr>
      </p:sp>
      <p:sp>
        <p:nvSpPr>
          <p:cNvPr id="15" name="Shape 10"/>
          <p:cNvSpPr/>
          <p:nvPr/>
        </p:nvSpPr>
        <p:spPr>
          <a:xfrm>
            <a:off x="6118741" y="4674632"/>
            <a:ext cx="421600" cy="421600"/>
          </a:xfrm>
          <a:prstGeom prst="roundRect">
            <a:avLst>
              <a:gd name="adj" fmla="val 21686636"/>
            </a:avLst>
          </a:prstGeom>
          <a:solidFill>
            <a:srgbClr val="3E251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4708" y="4790480"/>
            <a:ext cx="189667" cy="18966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18741" y="5183267"/>
            <a:ext cx="175676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Accountability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6118741" y="5455087"/>
            <a:ext cx="7879318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Automated Decision Ledger records full reasoning path. Aligns with MOD AI Ethics Principles (2022) and JSP 936.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78247" y="5864543"/>
            <a:ext cx="8160306" cy="1243370"/>
          </a:xfrm>
          <a:prstGeom prst="roundRect">
            <a:avLst>
              <a:gd name="adj" fmla="val 1696"/>
            </a:avLst>
          </a:prstGeom>
          <a:solidFill>
            <a:srgbClr val="F9F7F7"/>
          </a:solidFill>
          <a:ln/>
        </p:spPr>
      </p:sp>
      <p:sp>
        <p:nvSpPr>
          <p:cNvPr id="20" name="Shape 14"/>
          <p:cNvSpPr/>
          <p:nvPr/>
        </p:nvSpPr>
        <p:spPr>
          <a:xfrm>
            <a:off x="6118741" y="6005036"/>
            <a:ext cx="421600" cy="421600"/>
          </a:xfrm>
          <a:prstGeom prst="roundRect">
            <a:avLst>
              <a:gd name="adj" fmla="val 21686636"/>
            </a:avLst>
          </a:prstGeom>
          <a:solidFill>
            <a:srgbClr val="3E251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4708" y="6120884"/>
            <a:ext cx="189667" cy="18966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18741" y="6513671"/>
            <a:ext cx="1756767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 Security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118741" y="6785491"/>
            <a:ext cx="7879318" cy="181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Air-gapped deployment. RBAC + clearance-based filtering. Encryption at rest and in transit. No third-party APIs.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2112" y="903089"/>
            <a:ext cx="5404604" cy="626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Return on Investment</a:t>
            </a:r>
            <a:endParaRPr lang="en-US" sz="3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12" y="1995726"/>
            <a:ext cx="6370320" cy="36210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50603" y="2466165"/>
            <a:ext cx="155853" cy="15925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35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775264" y="3256169"/>
            <a:ext cx="155853" cy="15925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40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148031" y="4046173"/>
            <a:ext cx="155853" cy="15925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15</a:t>
            </a:r>
            <a:endParaRPr lang="en-US" sz="650" dirty="0"/>
          </a:p>
        </p:txBody>
      </p:sp>
      <p:sp>
        <p:nvSpPr>
          <p:cNvPr id="7" name="Text 4"/>
          <p:cNvSpPr/>
          <p:nvPr/>
        </p:nvSpPr>
        <p:spPr>
          <a:xfrm>
            <a:off x="4664833" y="4836176"/>
            <a:ext cx="155853" cy="15925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20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7567493" y="1973580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Investment Context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7567493" y="2464356"/>
            <a:ext cx="636841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Enterprise AI deployment benchmarks (Forrester, 2025):</a:t>
            </a:r>
            <a:endParaRPr lang="en-US" sz="1550" dirty="0"/>
          </a:p>
        </p:txBody>
      </p:sp>
      <p:sp>
        <p:nvSpPr>
          <p:cNvPr id="10" name="Shape 7"/>
          <p:cNvSpPr/>
          <p:nvPr/>
        </p:nvSpPr>
        <p:spPr>
          <a:xfrm>
            <a:off x="7567493" y="2966323"/>
            <a:ext cx="3095506" cy="1496854"/>
          </a:xfrm>
          <a:prstGeom prst="roundRect">
            <a:avLst>
              <a:gd name="adj" fmla="val 2011"/>
            </a:avLst>
          </a:prstGeom>
          <a:solidFill>
            <a:srgbClr val="F9F7F7"/>
          </a:solidFill>
          <a:ln/>
        </p:spPr>
      </p:sp>
      <p:sp>
        <p:nvSpPr>
          <p:cNvPr id="11" name="Text 8"/>
          <p:cNvSpPr/>
          <p:nvPr/>
        </p:nvSpPr>
        <p:spPr>
          <a:xfrm>
            <a:off x="7768114" y="3166943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£3–25M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7768114" y="3657719"/>
            <a:ext cx="26942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Typical 3-year deployment cost range</a:t>
            </a:r>
            <a:endParaRPr lang="en-US" sz="1550" dirty="0"/>
          </a:p>
        </p:txBody>
      </p:sp>
      <p:sp>
        <p:nvSpPr>
          <p:cNvPr id="13" name="Shape 10"/>
          <p:cNvSpPr/>
          <p:nvPr/>
        </p:nvSpPr>
        <p:spPr>
          <a:xfrm>
            <a:off x="10840402" y="2966323"/>
            <a:ext cx="3095506" cy="1496854"/>
          </a:xfrm>
          <a:prstGeom prst="roundRect">
            <a:avLst>
              <a:gd name="adj" fmla="val 2011"/>
            </a:avLst>
          </a:prstGeom>
          <a:solidFill>
            <a:srgbClr val="F9F7F7"/>
          </a:solidFill>
          <a:ln/>
        </p:spPr>
      </p:sp>
      <p:sp>
        <p:nvSpPr>
          <p:cNvPr id="14" name="Text 11"/>
          <p:cNvSpPr/>
          <p:nvPr/>
        </p:nvSpPr>
        <p:spPr>
          <a:xfrm>
            <a:off x="11041023" y="3166943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116–416%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1041023" y="3657719"/>
            <a:ext cx="269426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Reported ROI from commissioned case studies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7567493" y="4640580"/>
            <a:ext cx="6368415" cy="1194435"/>
          </a:xfrm>
          <a:prstGeom prst="roundRect">
            <a:avLst>
              <a:gd name="adj" fmla="val 2520"/>
            </a:avLst>
          </a:prstGeom>
          <a:solidFill>
            <a:srgbClr val="F9F7F7"/>
          </a:solidFill>
          <a:ln/>
        </p:spPr>
      </p:sp>
      <p:sp>
        <p:nvSpPr>
          <p:cNvPr id="17" name="Text 14"/>
          <p:cNvSpPr/>
          <p:nvPr/>
        </p:nvSpPr>
        <p:spPr>
          <a:xfrm>
            <a:off x="7768114" y="4841200"/>
            <a:ext cx="2507813" cy="313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Month 14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7768114" y="5331976"/>
            <a:ext cx="596717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Sovereign build financial crossover vs. licensing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7567493" y="6034564"/>
            <a:ext cx="6368415" cy="1092279"/>
          </a:xfrm>
          <a:prstGeom prst="roundRect">
            <a:avLst>
              <a:gd name="adj" fmla="val 2755"/>
            </a:avLst>
          </a:prstGeom>
          <a:solidFill>
            <a:srgbClr val="EDD5C4"/>
          </a:solidFill>
          <a:ln/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8114" y="6323052"/>
            <a:ext cx="250746" cy="2006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219480" y="6262092"/>
            <a:ext cx="5515808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3-year NPV advantage of sovereign build over licensing: </a:t>
            </a:r>
            <a:r>
              <a:rPr lang="en-US" sz="15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£67.3M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86832" y="1611749"/>
            <a:ext cx="2877979" cy="359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2030 Vision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6086832" y="2059067"/>
            <a:ext cx="7943136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From Defence Contractor to National Security Partner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6086832" y="3139678"/>
            <a:ext cx="460415" cy="690682"/>
          </a:xfrm>
          <a:prstGeom prst="roundRect">
            <a:avLst>
              <a:gd name="adj" fmla="val 360048"/>
            </a:avLst>
          </a:prstGeom>
          <a:solidFill>
            <a:srgbClr val="F9F7F7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30660" y="3398639"/>
            <a:ext cx="172641" cy="1726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05588" y="3254693"/>
            <a:ext cx="1545193" cy="17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Digital Targeting Web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605588" y="3469600"/>
            <a:ext cx="7424380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Core orchestrator for SDR25's sensor-to-shooter mandate. IOC: April 2026.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086832" y="3888700"/>
            <a:ext cx="460415" cy="690682"/>
          </a:xfrm>
          <a:prstGeom prst="roundRect">
            <a:avLst>
              <a:gd name="adj" fmla="val 360048"/>
            </a:avLst>
          </a:prstGeom>
          <a:solidFill>
            <a:srgbClr val="F9F7F7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30660" y="4147661"/>
            <a:ext cx="172641" cy="17264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05588" y="4003715"/>
            <a:ext cx="1536740" cy="17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Sovereign IP Platform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605588" y="4218623"/>
            <a:ext cx="7424380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£150M+ licensing potential — Five Eyes, NATO, UK agencies. Revenue unavailable to any licensing-only path.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6086832" y="4637722"/>
            <a:ext cx="460415" cy="690682"/>
          </a:xfrm>
          <a:prstGeom prst="roundRect">
            <a:avLst>
              <a:gd name="adj" fmla="val 360048"/>
            </a:avLst>
          </a:prstGeom>
          <a:solidFill>
            <a:srgbClr val="F9F7F7"/>
          </a:solidFill>
          <a:ln/>
        </p:spPr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30660" y="4896683"/>
            <a:ext cx="172641" cy="17264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05588" y="4752737"/>
            <a:ext cx="1438989" cy="17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JSP 936 Benchmark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605588" y="4967645"/>
            <a:ext cx="7424380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First major system designed for DAIC AI Model Arena. Trust-first, transparent, auditable.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6086832" y="5386745"/>
            <a:ext cx="460415" cy="690682"/>
          </a:xfrm>
          <a:prstGeom prst="roundRect">
            <a:avLst>
              <a:gd name="adj" fmla="val 360048"/>
            </a:avLst>
          </a:prstGeom>
          <a:solidFill>
            <a:srgbClr val="F9F7F7"/>
          </a:solidFill>
          <a:ln/>
        </p:spPr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0660" y="5645706"/>
            <a:ext cx="172641" cy="17264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605588" y="5501759"/>
            <a:ext cx="1438989" cy="179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Social Value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6605588" y="5716667"/>
            <a:ext cx="7424380" cy="138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Sustains high-value data science roles across 10+ UK sites. PPN 002 and Procurement Act 2023 aligned.</a:t>
            </a:r>
            <a:endParaRPr lang="en-US" sz="900" dirty="0"/>
          </a:p>
        </p:txBody>
      </p:sp>
      <p:sp>
        <p:nvSpPr>
          <p:cNvPr id="21" name="Shape 14"/>
          <p:cNvSpPr/>
          <p:nvPr/>
        </p:nvSpPr>
        <p:spPr>
          <a:xfrm>
            <a:off x="6086832" y="6143149"/>
            <a:ext cx="7943136" cy="474702"/>
          </a:xfrm>
          <a:prstGeom prst="roundRect">
            <a:avLst>
              <a:gd name="adj" fmla="val 3638"/>
            </a:avLst>
          </a:prstGeom>
          <a:solidFill>
            <a:srgbClr val="EDD5C4"/>
          </a:solidFill>
          <a:ln/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1847" y="6292810"/>
            <a:ext cx="143828" cy="11501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460688" y="6230183"/>
            <a:ext cx="7454265" cy="2776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9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central discriminator is not the AI alone — it is Sovereign Control</a:t>
            </a: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over data exhaust and model weights. Mandated by the 2025 Defence Industrial Strategy for Operational Independence in contested environments.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851</Words>
  <Application>Microsoft Office PowerPoint</Application>
  <PresentationFormat>Custom</PresentationFormat>
  <Paragraphs>122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Platypi Medium</vt:lpstr>
      <vt:lpstr>Source Serif 4</vt:lpstr>
      <vt:lpstr>-apple-system, BlinkMacSystemFont, Segoe UI, Roboto, Helvetica Neue, Arial, sans-serif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AMOGH LONARE</cp:lastModifiedBy>
  <cp:revision>2</cp:revision>
  <dcterms:created xsi:type="dcterms:W3CDTF">2026-03-25T12:24:07Z</dcterms:created>
  <dcterms:modified xsi:type="dcterms:W3CDTF">2026-03-25T12:30:18Z</dcterms:modified>
</cp:coreProperties>
</file>