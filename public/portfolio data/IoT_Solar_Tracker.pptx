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sldIdLst>
    <p:sldId id="256" r:id="rId2"/>
    <p:sldId id="257" r:id="rId3"/>
    <p:sldId id="258" r:id="rId4"/>
    <p:sldId id="259" r:id="rId5"/>
    <p:sldId id="260" r:id="rId6"/>
    <p:sldId id="261" r:id="rId7"/>
    <p:sldId id="263" r:id="rId8"/>
    <p:sldId id="264" r:id="rId9"/>
    <p:sldId id="265" r:id="rId10"/>
    <p:sldId id="266" r:id="rId11"/>
  </p:sldIdLst>
  <p:sldSz cx="12192000" cy="6858000"/>
  <p:notesSz cx="6858000" cy="9144000"/>
  <p:defaultTextStyle>
    <a:defPPr lvl="0">
      <a:defRPr lang="en-US"/>
    </a:defPPr>
    <a:lvl1pPr marL="0" lvl="0" algn="l" defTabSz="457200" rtl="0" eaLnBrk="1" latinLnBrk="0" hangingPunct="1">
      <a:defRPr sz="1800" kern="1200">
        <a:solidFill>
          <a:schemeClr val="tx1"/>
        </a:solidFill>
        <a:latin typeface="+mn-lt"/>
        <a:ea typeface="+mn-ea"/>
        <a:cs typeface="+mn-cs"/>
      </a:defRPr>
    </a:lvl1pPr>
    <a:lvl2pPr marL="457200" lvl="1" algn="l" defTabSz="457200" rtl="0" eaLnBrk="1" latinLnBrk="0" hangingPunct="1">
      <a:defRPr sz="1800" kern="1200">
        <a:solidFill>
          <a:schemeClr val="tx1"/>
        </a:solidFill>
        <a:latin typeface="+mn-lt"/>
        <a:ea typeface="+mn-ea"/>
        <a:cs typeface="+mn-cs"/>
      </a:defRPr>
    </a:lvl2pPr>
    <a:lvl3pPr marL="914400" lvl="2" algn="l" defTabSz="457200" rtl="0" eaLnBrk="1" latinLnBrk="0" hangingPunct="1">
      <a:defRPr sz="1800" kern="1200">
        <a:solidFill>
          <a:schemeClr val="tx1"/>
        </a:solidFill>
        <a:latin typeface="+mn-lt"/>
        <a:ea typeface="+mn-ea"/>
        <a:cs typeface="+mn-cs"/>
      </a:defRPr>
    </a:lvl3pPr>
    <a:lvl4pPr marL="1371600" lvl="3" algn="l" defTabSz="457200" rtl="0" eaLnBrk="1" latinLnBrk="0" hangingPunct="1">
      <a:defRPr sz="1800" kern="1200">
        <a:solidFill>
          <a:schemeClr val="tx1"/>
        </a:solidFill>
        <a:latin typeface="+mn-lt"/>
        <a:ea typeface="+mn-ea"/>
        <a:cs typeface="+mn-cs"/>
      </a:defRPr>
    </a:lvl4pPr>
    <a:lvl5pPr marL="1828800" lvl="4" algn="l" defTabSz="457200" rtl="0" eaLnBrk="1" latinLnBrk="0" hangingPunct="1">
      <a:defRPr sz="1800" kern="1200">
        <a:solidFill>
          <a:schemeClr val="tx1"/>
        </a:solidFill>
        <a:latin typeface="+mn-lt"/>
        <a:ea typeface="+mn-ea"/>
        <a:cs typeface="+mn-cs"/>
      </a:defRPr>
    </a:lvl5pPr>
    <a:lvl6pPr marL="2286000" lvl="5" algn="l" defTabSz="457200" rtl="0" eaLnBrk="1" latinLnBrk="0" hangingPunct="1">
      <a:defRPr sz="1800" kern="1200">
        <a:solidFill>
          <a:schemeClr val="tx1"/>
        </a:solidFill>
        <a:latin typeface="+mn-lt"/>
        <a:ea typeface="+mn-ea"/>
        <a:cs typeface="+mn-cs"/>
      </a:defRPr>
    </a:lvl6pPr>
    <a:lvl7pPr marL="2743200" lvl="6" algn="l" defTabSz="457200" rtl="0" eaLnBrk="1" latinLnBrk="0" hangingPunct="1">
      <a:defRPr sz="1800" kern="1200">
        <a:solidFill>
          <a:schemeClr val="tx1"/>
        </a:solidFill>
        <a:latin typeface="+mn-lt"/>
        <a:ea typeface="+mn-ea"/>
        <a:cs typeface="+mn-cs"/>
      </a:defRPr>
    </a:lvl7pPr>
    <a:lvl8pPr marL="3200400" lvl="7" algn="l" defTabSz="457200" rtl="0" eaLnBrk="1" latinLnBrk="0" hangingPunct="1">
      <a:defRPr sz="1800" kern="1200">
        <a:solidFill>
          <a:schemeClr val="tx1"/>
        </a:solidFill>
        <a:latin typeface="+mn-lt"/>
        <a:ea typeface="+mn-ea"/>
        <a:cs typeface="+mn-cs"/>
      </a:defRPr>
    </a:lvl8pPr>
    <a:lvl9pPr marL="3657600" lvl="8"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65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pPr/>
              <a:t>3/7/2022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601377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3/7/2022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750930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3/7/2022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302642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smtClean="0"/>
              <a:t>3/7/2022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511288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smtClean="0"/>
              <a:t>3/7/2022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200772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3/7/2022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101343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smtClean="0"/>
              <a:t>3/7/2022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345359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3/7/2022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24704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3/7/2022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958239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3/7/2022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425584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3/7/2022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628569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3/7/2022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7808290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3/7/2022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716973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3/7/2022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8000603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3/7/2022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1035747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3/7/2022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67006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7DE6118-2437-4B30-8E3C-4D2BE6020583}" type="datetimeFigureOut">
              <a:rPr lang="en-US" smtClean="0"/>
              <a:pPr/>
              <a:t>3/7/2022</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49616573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30A58-33E8-41E8-88B1-EA440F25B8E4}"/>
              </a:ext>
            </a:extLst>
          </p:cNvPr>
          <p:cNvSpPr>
            <a:spLocks noGrp="1"/>
          </p:cNvSpPr>
          <p:nvPr>
            <p:ph type="ctrTitle"/>
          </p:nvPr>
        </p:nvSpPr>
        <p:spPr>
          <a:xfrm>
            <a:off x="1915127" y="1430645"/>
            <a:ext cx="8361229" cy="2098226"/>
          </a:xfrm>
        </p:spPr>
        <p:txBody>
          <a:bodyPr/>
          <a:lstStyle/>
          <a:p>
            <a:r>
              <a:rPr lang="en-US" b="1" u="sng" dirty="0"/>
              <a:t>IOT BASED SOLAR TRACKER</a:t>
            </a:r>
          </a:p>
        </p:txBody>
      </p:sp>
      <p:sp>
        <p:nvSpPr>
          <p:cNvPr id="3" name="Subtitle 2">
            <a:extLst>
              <a:ext uri="{FF2B5EF4-FFF2-40B4-BE49-F238E27FC236}">
                <a16:creationId xmlns:a16="http://schemas.microsoft.com/office/drawing/2014/main" id="{F1516FE5-F3FF-4AE8-834F-AE1350F47213}"/>
              </a:ext>
            </a:extLst>
          </p:cNvPr>
          <p:cNvSpPr>
            <a:spLocks noGrp="1"/>
          </p:cNvSpPr>
          <p:nvPr>
            <p:ph type="subTitle" idx="1"/>
          </p:nvPr>
        </p:nvSpPr>
        <p:spPr>
          <a:xfrm>
            <a:off x="4124393" y="4552627"/>
            <a:ext cx="6831673" cy="1086237"/>
          </a:xfrm>
        </p:spPr>
        <p:txBody>
          <a:bodyPr>
            <a:normAutofit fontScale="92500" lnSpcReduction="10000"/>
          </a:bodyPr>
          <a:lstStyle/>
          <a:p>
            <a:r>
              <a:rPr lang="en-US" dirty="0">
                <a:solidFill>
                  <a:schemeClr val="tx1"/>
                </a:solidFill>
              </a:rPr>
              <a:t>1)Ashutosh Singh-41</a:t>
            </a:r>
          </a:p>
          <a:p>
            <a:r>
              <a:rPr lang="en-US" dirty="0">
                <a:solidFill>
                  <a:schemeClr val="tx1"/>
                </a:solidFill>
              </a:rPr>
              <a:t>2)</a:t>
            </a:r>
            <a:r>
              <a:rPr lang="en-US" dirty="0" err="1">
                <a:solidFill>
                  <a:schemeClr val="tx1"/>
                </a:solidFill>
              </a:rPr>
              <a:t>Amogh</a:t>
            </a:r>
            <a:r>
              <a:rPr lang="en-US" dirty="0">
                <a:solidFill>
                  <a:schemeClr val="tx1"/>
                </a:solidFill>
              </a:rPr>
              <a:t> Lonare-40</a:t>
            </a:r>
          </a:p>
          <a:p>
            <a:r>
              <a:rPr lang="en-US" dirty="0">
                <a:solidFill>
                  <a:schemeClr val="tx1"/>
                </a:solidFill>
              </a:rPr>
              <a:t>3)Harsh Singh-33</a:t>
            </a:r>
          </a:p>
        </p:txBody>
      </p:sp>
    </p:spTree>
    <p:extLst>
      <p:ext uri="{BB962C8B-B14F-4D97-AF65-F5344CB8AC3E}">
        <p14:creationId xmlns:p14="http://schemas.microsoft.com/office/powerpoint/2010/main" val="42160485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38019-9156-4A9A-88FD-AE9A774D2B1C}"/>
              </a:ext>
            </a:extLst>
          </p:cNvPr>
          <p:cNvSpPr>
            <a:spLocks noGrp="1"/>
          </p:cNvSpPr>
          <p:nvPr>
            <p:ph type="title"/>
          </p:nvPr>
        </p:nvSpPr>
        <p:spPr/>
        <p:txBody>
          <a:bodyPr/>
          <a:lstStyle/>
          <a:p>
            <a:pPr algn="ctr"/>
            <a:r>
              <a:rPr lang="en-US" b="1" u="sng" dirty="0"/>
              <a:t>INTRODUCTION</a:t>
            </a:r>
          </a:p>
        </p:txBody>
      </p:sp>
      <p:sp>
        <p:nvSpPr>
          <p:cNvPr id="3" name="Content Placeholder 2">
            <a:extLst>
              <a:ext uri="{FF2B5EF4-FFF2-40B4-BE49-F238E27FC236}">
                <a16:creationId xmlns:a16="http://schemas.microsoft.com/office/drawing/2014/main" id="{DB390E20-E8C3-4D78-8BF0-4B9349E1C915}"/>
              </a:ext>
            </a:extLst>
          </p:cNvPr>
          <p:cNvSpPr>
            <a:spLocks noGrp="1"/>
          </p:cNvSpPr>
          <p:nvPr>
            <p:ph idx="1"/>
          </p:nvPr>
        </p:nvSpPr>
        <p:spPr>
          <a:xfrm>
            <a:off x="1378226" y="1669774"/>
            <a:ext cx="9601200" cy="4197626"/>
          </a:xfrm>
        </p:spPr>
        <p:txBody>
          <a:bodyPr>
            <a:normAutofit/>
          </a:bodyPr>
          <a:lstStyle/>
          <a:p>
            <a:pPr>
              <a:buFont typeface="Wingdings" panose="05000000000000000000" pitchFamily="2" charset="2"/>
              <a:buChar char="§"/>
            </a:pPr>
            <a:r>
              <a:rPr lang="en-US" dirty="0">
                <a:solidFill>
                  <a:schemeClr val="tx1"/>
                </a:solidFill>
              </a:rPr>
              <a:t>Solar energy is rapidly gaining notoriety as an important means of expanding renewable energy resources.</a:t>
            </a:r>
          </a:p>
          <a:p>
            <a:pPr>
              <a:buFont typeface="Wingdings" panose="05000000000000000000" pitchFamily="2" charset="2"/>
              <a:buChar char="§"/>
            </a:pPr>
            <a:r>
              <a:rPr lang="en-US" dirty="0">
                <a:solidFill>
                  <a:schemeClr val="tx1"/>
                </a:solidFill>
              </a:rPr>
              <a:t> As such, it is vital that those in engineering fields understand the technologies associated with this area. </a:t>
            </a:r>
          </a:p>
          <a:p>
            <a:pPr>
              <a:buFont typeface="Wingdings" panose="05000000000000000000" pitchFamily="2" charset="2"/>
              <a:buChar char="§"/>
            </a:pPr>
            <a:r>
              <a:rPr lang="en-US" dirty="0">
                <a:solidFill>
                  <a:schemeClr val="tx1"/>
                </a:solidFill>
              </a:rPr>
              <a:t>Our project will include the design and construction of a microcontroller-based solar panel tracking system.</a:t>
            </a:r>
          </a:p>
          <a:p>
            <a:pPr>
              <a:buFont typeface="Wingdings" panose="05000000000000000000" pitchFamily="2" charset="2"/>
              <a:buChar char="§"/>
            </a:pPr>
            <a:r>
              <a:rPr lang="en-US" dirty="0">
                <a:solidFill>
                  <a:schemeClr val="tx1"/>
                </a:solidFill>
              </a:rPr>
              <a:t> Solar tracking allows more energy to be produced because the solar array is able to remain aligned to the sun.</a:t>
            </a:r>
          </a:p>
          <a:p>
            <a:pPr>
              <a:buFont typeface="Wingdings" panose="05000000000000000000" pitchFamily="2" charset="2"/>
              <a:buChar char="§"/>
            </a:pPr>
            <a:r>
              <a:rPr lang="en-US" dirty="0">
                <a:solidFill>
                  <a:schemeClr val="tx1"/>
                </a:solidFill>
              </a:rPr>
              <a:t>This system builds upon topics learned in this course. A working system will ultimately be demonstrated to validate the design. Problems and possible improvements will also be presented.</a:t>
            </a:r>
          </a:p>
        </p:txBody>
      </p:sp>
    </p:spTree>
    <p:extLst>
      <p:ext uri="{BB962C8B-B14F-4D97-AF65-F5344CB8AC3E}">
        <p14:creationId xmlns:p14="http://schemas.microsoft.com/office/powerpoint/2010/main" val="2008726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D6530-8E8E-47EA-A668-28B0B8C155F3}"/>
              </a:ext>
            </a:extLst>
          </p:cNvPr>
          <p:cNvSpPr>
            <a:spLocks noGrp="1"/>
          </p:cNvSpPr>
          <p:nvPr>
            <p:ph type="title"/>
          </p:nvPr>
        </p:nvSpPr>
        <p:spPr>
          <a:xfrm>
            <a:off x="934278" y="102705"/>
            <a:ext cx="9601200" cy="1485900"/>
          </a:xfrm>
        </p:spPr>
        <p:txBody>
          <a:bodyPr>
            <a:normAutofit fontScale="90000"/>
          </a:bodyPr>
          <a:lstStyle/>
          <a:p>
            <a:r>
              <a:rPr lang="en-US" b="1" u="sng" dirty="0"/>
              <a:t>LITERATURE SURVEY:01</a:t>
            </a:r>
            <a:br>
              <a:rPr lang="en-US" u="sng" dirty="0"/>
            </a:br>
            <a:r>
              <a:rPr lang="en-US" sz="3600" dirty="0"/>
              <a:t>TOPIC:A Review on an Automatic Solar Tracking System</a:t>
            </a:r>
          </a:p>
        </p:txBody>
      </p:sp>
      <p:sp>
        <p:nvSpPr>
          <p:cNvPr id="3" name="Content Placeholder 2">
            <a:extLst>
              <a:ext uri="{FF2B5EF4-FFF2-40B4-BE49-F238E27FC236}">
                <a16:creationId xmlns:a16="http://schemas.microsoft.com/office/drawing/2014/main" id="{A3B1BE9A-34EC-4FA1-BC92-504903EC056F}"/>
              </a:ext>
            </a:extLst>
          </p:cNvPr>
          <p:cNvSpPr>
            <a:spLocks noGrp="1"/>
          </p:cNvSpPr>
          <p:nvPr>
            <p:ph idx="1"/>
          </p:nvPr>
        </p:nvSpPr>
        <p:spPr>
          <a:xfrm>
            <a:off x="1093305" y="1588605"/>
            <a:ext cx="9601200" cy="3581400"/>
          </a:xfrm>
        </p:spPr>
        <p:txBody>
          <a:bodyPr>
            <a:normAutofit/>
          </a:bodyPr>
          <a:lstStyle/>
          <a:p>
            <a:r>
              <a:rPr lang="en-US" dirty="0"/>
              <a:t>The purpose of designing a solar tracker is to propose the conception and development of solar tracking system, such that the solar panel throughout the sunshine hour’s remains perpendicular to sunlight beam and fit’s to the users power requirement.</a:t>
            </a:r>
          </a:p>
          <a:p>
            <a:r>
              <a:rPr lang="en-US" dirty="0"/>
              <a:t>The conception of light tracking system is quite simple, where light detectors detect position of the sun, based on sensors readings, and generated sun tracking error, based on error, the control unit generates the voltage used to command the drive circuit to drive a low- speed motor, that outputs the rotational speed or displacement of electric motor, (to rotate the solar panel via a speed-reduction system) until it perpendicularly faces the sun.</a:t>
            </a:r>
          </a:p>
          <a:p>
            <a:pPr marL="0" indent="0">
              <a:buNone/>
            </a:pPr>
            <a:endParaRPr lang="en-US" dirty="0"/>
          </a:p>
        </p:txBody>
      </p:sp>
    </p:spTree>
    <p:extLst>
      <p:ext uri="{BB962C8B-B14F-4D97-AF65-F5344CB8AC3E}">
        <p14:creationId xmlns:p14="http://schemas.microsoft.com/office/powerpoint/2010/main" val="3841186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CE822-D26B-4D84-9C69-08E02F50BDB4}"/>
              </a:ext>
            </a:extLst>
          </p:cNvPr>
          <p:cNvSpPr>
            <a:spLocks noGrp="1"/>
          </p:cNvSpPr>
          <p:nvPr>
            <p:ph type="title"/>
          </p:nvPr>
        </p:nvSpPr>
        <p:spPr>
          <a:xfrm>
            <a:off x="1295400" y="142461"/>
            <a:ext cx="9601200" cy="1485900"/>
          </a:xfrm>
        </p:spPr>
        <p:txBody>
          <a:bodyPr>
            <a:normAutofit fontScale="90000"/>
          </a:bodyPr>
          <a:lstStyle/>
          <a:p>
            <a:r>
              <a:rPr lang="en-US" b="1" u="sng" dirty="0"/>
              <a:t>LITERATURE</a:t>
            </a:r>
            <a:br>
              <a:rPr lang="en-US" b="1" u="sng" dirty="0"/>
            </a:br>
            <a:r>
              <a:rPr lang="en-US" sz="3200" dirty="0"/>
              <a:t>TOPIC: Modeling</a:t>
            </a:r>
            <a:r>
              <a:rPr lang="en-US" sz="3100" dirty="0"/>
              <a:t> and Designing of Solar Tracking System using Arduino</a:t>
            </a:r>
            <a:endParaRPr lang="en-US" sz="3100" b="1" u="sng" dirty="0"/>
          </a:p>
        </p:txBody>
      </p:sp>
      <p:sp>
        <p:nvSpPr>
          <p:cNvPr id="3" name="Content Placeholder 2">
            <a:extLst>
              <a:ext uri="{FF2B5EF4-FFF2-40B4-BE49-F238E27FC236}">
                <a16:creationId xmlns:a16="http://schemas.microsoft.com/office/drawing/2014/main" id="{7DE2F857-00B0-4F28-9C28-C7F385D7489D}"/>
              </a:ext>
            </a:extLst>
          </p:cNvPr>
          <p:cNvSpPr>
            <a:spLocks noGrp="1"/>
          </p:cNvSpPr>
          <p:nvPr>
            <p:ph idx="1"/>
          </p:nvPr>
        </p:nvSpPr>
        <p:spPr>
          <a:xfrm>
            <a:off x="1295400" y="2088874"/>
            <a:ext cx="9601200" cy="3581400"/>
          </a:xfrm>
        </p:spPr>
        <p:txBody>
          <a:bodyPr>
            <a:noAutofit/>
          </a:bodyPr>
          <a:lstStyle/>
          <a:p>
            <a:r>
              <a:rPr lang="en-US" dirty="0"/>
              <a:t>The circuit of the solar tracker system is divided into three sections. There is the input stage </a:t>
            </a:r>
            <a:r>
              <a:rPr lang="en-US" dirty="0" err="1"/>
              <a:t>thatis</a:t>
            </a:r>
            <a:r>
              <a:rPr lang="en-US" dirty="0"/>
              <a:t> composed of sensors and potentiometers, a program in embedded software in the Microcontroller and lastly the driving circuit that has the servo motor. </a:t>
            </a:r>
          </a:p>
          <a:p>
            <a:r>
              <a:rPr lang="en-US" dirty="0"/>
              <a:t>The input stage has two LDRs that are so arranged to form a voltage divider circuit. A C program loaded into the Atmega328P forms the embedded software. There is a metallic frame that houses the components. The three stages are designed independently before being joined into one system. </a:t>
            </a:r>
          </a:p>
          <a:p>
            <a:r>
              <a:rPr lang="en-US" dirty="0"/>
              <a:t>This </a:t>
            </a:r>
            <a:r>
              <a:rPr lang="en-US" dirty="0" err="1"/>
              <a:t>approach,similar</a:t>
            </a:r>
            <a:r>
              <a:rPr lang="en-US" dirty="0"/>
              <a:t> to stepwise refinement in modular programming, has been employed as it ensures </a:t>
            </a:r>
            <a:r>
              <a:rPr lang="en-US" dirty="0" err="1"/>
              <a:t>anaccurate</a:t>
            </a:r>
            <a:r>
              <a:rPr lang="en-US" dirty="0"/>
              <a:t> and logical approach which is straight forward and easy to understand. This also </a:t>
            </a:r>
            <a:r>
              <a:rPr lang="en-US" dirty="0" err="1"/>
              <a:t>ensuresthat</a:t>
            </a:r>
            <a:r>
              <a:rPr lang="en-US" dirty="0"/>
              <a:t> if there are any errors, they are independently considered and corrected. </a:t>
            </a:r>
          </a:p>
        </p:txBody>
      </p:sp>
    </p:spTree>
    <p:extLst>
      <p:ext uri="{BB962C8B-B14F-4D97-AF65-F5344CB8AC3E}">
        <p14:creationId xmlns:p14="http://schemas.microsoft.com/office/powerpoint/2010/main" val="3716063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CD123-F709-4A78-90FC-6501443AB12F}"/>
              </a:ext>
            </a:extLst>
          </p:cNvPr>
          <p:cNvSpPr>
            <a:spLocks noGrp="1"/>
          </p:cNvSpPr>
          <p:nvPr>
            <p:ph type="title"/>
          </p:nvPr>
        </p:nvSpPr>
        <p:spPr>
          <a:xfrm>
            <a:off x="1371600" y="247650"/>
            <a:ext cx="9601200" cy="1485900"/>
          </a:xfrm>
        </p:spPr>
        <p:txBody>
          <a:bodyPr/>
          <a:lstStyle/>
          <a:p>
            <a:r>
              <a:rPr lang="en-US" dirty="0"/>
              <a:t>Discussion:</a:t>
            </a:r>
          </a:p>
        </p:txBody>
      </p:sp>
      <p:sp>
        <p:nvSpPr>
          <p:cNvPr id="3" name="Content Placeholder 2">
            <a:extLst>
              <a:ext uri="{FF2B5EF4-FFF2-40B4-BE49-F238E27FC236}">
                <a16:creationId xmlns:a16="http://schemas.microsoft.com/office/drawing/2014/main" id="{8F708487-909F-426C-817E-A640E969DD7F}"/>
              </a:ext>
            </a:extLst>
          </p:cNvPr>
          <p:cNvSpPr>
            <a:spLocks noGrp="1"/>
          </p:cNvSpPr>
          <p:nvPr>
            <p:ph idx="1"/>
          </p:nvPr>
        </p:nvSpPr>
        <p:spPr>
          <a:xfrm>
            <a:off x="1371600" y="1543051"/>
            <a:ext cx="9601200" cy="3581400"/>
          </a:xfrm>
        </p:spPr>
        <p:txBody>
          <a:bodyPr>
            <a:noAutofit/>
          </a:bodyPr>
          <a:lstStyle/>
          <a:p>
            <a:r>
              <a:rPr lang="en-US" dirty="0"/>
              <a:t>The project “Modelling And Designing of Solar Tracking System Using Arduino” has been successfully designed and tested. It has been developed by integrating features of all the hardware components used and software also in which we have used C language.</a:t>
            </a:r>
          </a:p>
          <a:p>
            <a:r>
              <a:rPr lang="en-US" dirty="0"/>
              <a:t>Presence of every module has been reasoned out and placed carefully thus contributing to the best working of the unit.</a:t>
            </a:r>
          </a:p>
          <a:p>
            <a:r>
              <a:rPr lang="en-US" dirty="0"/>
              <a:t> Secondly, using highly advanced microcontroller and with the help of growing technology the project has been successfully implemented. It has been concluded that by implementing these systems we can make our environment clean.</a:t>
            </a:r>
          </a:p>
        </p:txBody>
      </p:sp>
    </p:spTree>
    <p:extLst>
      <p:ext uri="{BB962C8B-B14F-4D97-AF65-F5344CB8AC3E}">
        <p14:creationId xmlns:p14="http://schemas.microsoft.com/office/powerpoint/2010/main" val="533618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C5B56-C78F-42CE-ACFF-B9106388F79D}"/>
              </a:ext>
            </a:extLst>
          </p:cNvPr>
          <p:cNvSpPr>
            <a:spLocks noGrp="1"/>
          </p:cNvSpPr>
          <p:nvPr>
            <p:ph type="title"/>
          </p:nvPr>
        </p:nvSpPr>
        <p:spPr>
          <a:xfrm>
            <a:off x="1371600" y="247650"/>
            <a:ext cx="9601200" cy="1485900"/>
          </a:xfrm>
        </p:spPr>
        <p:txBody>
          <a:bodyPr>
            <a:normAutofit fontScale="90000"/>
          </a:bodyPr>
          <a:lstStyle/>
          <a:p>
            <a:r>
              <a:rPr lang="en-US" b="1" u="sng" dirty="0"/>
              <a:t>LITERATURE</a:t>
            </a:r>
            <a:br>
              <a:rPr lang="en-US" b="1" u="sng" dirty="0"/>
            </a:br>
            <a:r>
              <a:rPr lang="en-US" sz="3200" dirty="0"/>
              <a:t>TOPIC:SOLAR TRACKING SYSTEM FOR AFRICA’S</a:t>
            </a:r>
            <a:br>
              <a:rPr lang="en-US" sz="3200" dirty="0"/>
            </a:br>
            <a:r>
              <a:rPr lang="en-US" sz="3200" dirty="0"/>
              <a:t>UNDERUTILIZED SOLAR POWER </a:t>
            </a:r>
            <a:br>
              <a:rPr lang="en-US" sz="3200" dirty="0"/>
            </a:br>
            <a:endParaRPr lang="en-US" sz="3200" b="1" u="sng" dirty="0"/>
          </a:p>
        </p:txBody>
      </p:sp>
      <p:sp>
        <p:nvSpPr>
          <p:cNvPr id="3" name="Content Placeholder 2">
            <a:extLst>
              <a:ext uri="{FF2B5EF4-FFF2-40B4-BE49-F238E27FC236}">
                <a16:creationId xmlns:a16="http://schemas.microsoft.com/office/drawing/2014/main" id="{AAA91CB7-2ACD-446F-A2E8-612D2710B373}"/>
              </a:ext>
            </a:extLst>
          </p:cNvPr>
          <p:cNvSpPr>
            <a:spLocks noGrp="1"/>
          </p:cNvSpPr>
          <p:nvPr>
            <p:ph idx="1"/>
          </p:nvPr>
        </p:nvSpPr>
        <p:spPr>
          <a:xfrm>
            <a:off x="1371600" y="1875183"/>
            <a:ext cx="9601200" cy="3581400"/>
          </a:xfrm>
        </p:spPr>
        <p:txBody>
          <a:bodyPr>
            <a:noAutofit/>
          </a:bodyPr>
          <a:lstStyle/>
          <a:p>
            <a:endParaRPr lang="en-US" dirty="0"/>
          </a:p>
          <a:p>
            <a:r>
              <a:rPr lang="en-US" dirty="0"/>
              <a:t>The solar power works by capturing energy from the sun and converting it into electricity for home and industrial usage . </a:t>
            </a:r>
          </a:p>
          <a:p>
            <a:r>
              <a:rPr lang="en-US" dirty="0"/>
              <a:t>The International Energy Agency indicated that since 2010, solar photovoltaic capacity has increased considerably as compared to previous four decades . Tsao et al. indicated that there is more energy from the sun that hits the earth in just an hour than worldwide consumption for the year 2010 [5]. This clearly shows the incredible potentials available in solar power. </a:t>
            </a:r>
          </a:p>
          <a:p>
            <a:r>
              <a:rPr lang="en-US" dirty="0"/>
              <a:t>The solar power system consists of solar panels, solar battery storage system and solar invertor as displayed in fig 1 which works together to produce the energy needed.</a:t>
            </a:r>
          </a:p>
          <a:p>
            <a:endParaRPr lang="en-US" dirty="0"/>
          </a:p>
        </p:txBody>
      </p:sp>
    </p:spTree>
    <p:extLst>
      <p:ext uri="{BB962C8B-B14F-4D97-AF65-F5344CB8AC3E}">
        <p14:creationId xmlns:p14="http://schemas.microsoft.com/office/powerpoint/2010/main" val="4228151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E2089-9615-4C31-A21B-73BC67782970}"/>
              </a:ext>
            </a:extLst>
          </p:cNvPr>
          <p:cNvSpPr>
            <a:spLocks noGrp="1"/>
          </p:cNvSpPr>
          <p:nvPr>
            <p:ph type="ctrTitle"/>
          </p:nvPr>
        </p:nvSpPr>
        <p:spPr>
          <a:xfrm>
            <a:off x="2312377" y="193432"/>
            <a:ext cx="5275386" cy="870437"/>
          </a:xfrm>
        </p:spPr>
        <p:txBody>
          <a:bodyPr/>
          <a:lstStyle/>
          <a:p>
            <a:r>
              <a:rPr lang="en-IN" sz="3600" dirty="0"/>
              <a:t>Basic circuit diagram</a:t>
            </a:r>
          </a:p>
        </p:txBody>
      </p:sp>
      <p:sp>
        <p:nvSpPr>
          <p:cNvPr id="3" name="Subtitle 2">
            <a:extLst>
              <a:ext uri="{FF2B5EF4-FFF2-40B4-BE49-F238E27FC236}">
                <a16:creationId xmlns:a16="http://schemas.microsoft.com/office/drawing/2014/main" id="{C1ED9BD9-ADC8-46B0-964C-EE16B19BD954}"/>
              </a:ext>
            </a:extLst>
          </p:cNvPr>
          <p:cNvSpPr>
            <a:spLocks noGrp="1"/>
          </p:cNvSpPr>
          <p:nvPr>
            <p:ph type="subTitle" idx="1"/>
          </p:nvPr>
        </p:nvSpPr>
        <p:spPr>
          <a:xfrm>
            <a:off x="1507067" y="1063869"/>
            <a:ext cx="7766936" cy="5706208"/>
          </a:xfrm>
        </p:spPr>
        <p:txBody>
          <a:bodyPr/>
          <a:lstStyle/>
          <a:p>
            <a:r>
              <a:rPr lang="en-US" dirty="0"/>
              <a:t>An overview of the required circuit for the Dual-axes solar tracker is shown here. The 5V supply is fed from an USB 5V dc voltage source through Arduino Board. </a:t>
            </a:r>
          </a:p>
          <a:p>
            <a:r>
              <a:rPr lang="en-US" dirty="0"/>
              <a:t>Servo X :Rotates solar panel along X direction </a:t>
            </a:r>
          </a:p>
          <a:p>
            <a:r>
              <a:rPr lang="en-US" dirty="0"/>
              <a:t>Servo Y :Rotates solar panel along Y direction</a:t>
            </a:r>
            <a:endParaRPr lang="en-IN" dirty="0"/>
          </a:p>
        </p:txBody>
      </p:sp>
      <p:sp>
        <p:nvSpPr>
          <p:cNvPr id="4" name="Arrow: Left-Right 3">
            <a:extLst>
              <a:ext uri="{FF2B5EF4-FFF2-40B4-BE49-F238E27FC236}">
                <a16:creationId xmlns:a16="http://schemas.microsoft.com/office/drawing/2014/main" id="{2FBE66AD-667A-4F55-9692-0D81E4B90672}"/>
              </a:ext>
            </a:extLst>
          </p:cNvPr>
          <p:cNvSpPr/>
          <p:nvPr/>
        </p:nvSpPr>
        <p:spPr>
          <a:xfrm>
            <a:off x="2417885" y="1934306"/>
            <a:ext cx="975946" cy="16705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rrow: Up-Down 4">
            <a:extLst>
              <a:ext uri="{FF2B5EF4-FFF2-40B4-BE49-F238E27FC236}">
                <a16:creationId xmlns:a16="http://schemas.microsoft.com/office/drawing/2014/main" id="{4B891CD2-BDBE-4732-8C34-D0DE8E181E32}"/>
              </a:ext>
            </a:extLst>
          </p:cNvPr>
          <p:cNvSpPr/>
          <p:nvPr/>
        </p:nvSpPr>
        <p:spPr>
          <a:xfrm>
            <a:off x="2917997" y="2259623"/>
            <a:ext cx="150518" cy="501162"/>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51E1ECFA-6D13-47EF-843E-4F180475C185}"/>
              </a:ext>
            </a:extLst>
          </p:cNvPr>
          <p:cNvPicPr>
            <a:picLocks noChangeAspect="1"/>
          </p:cNvPicPr>
          <p:nvPr/>
        </p:nvPicPr>
        <p:blipFill>
          <a:blip r:embed="rId2"/>
          <a:stretch>
            <a:fillRect/>
          </a:stretch>
        </p:blipFill>
        <p:spPr>
          <a:xfrm>
            <a:off x="2151754" y="2801395"/>
            <a:ext cx="6477561" cy="4839119"/>
          </a:xfrm>
          <a:prstGeom prst="rect">
            <a:avLst/>
          </a:prstGeom>
        </p:spPr>
      </p:pic>
    </p:spTree>
    <p:extLst>
      <p:ext uri="{BB962C8B-B14F-4D97-AF65-F5344CB8AC3E}">
        <p14:creationId xmlns:p14="http://schemas.microsoft.com/office/powerpoint/2010/main" val="3956283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C7AA7-B396-4BAB-8806-55D0F5079B99}"/>
              </a:ext>
            </a:extLst>
          </p:cNvPr>
          <p:cNvSpPr>
            <a:spLocks noGrp="1"/>
          </p:cNvSpPr>
          <p:nvPr>
            <p:ph type="title"/>
          </p:nvPr>
        </p:nvSpPr>
        <p:spPr>
          <a:xfrm>
            <a:off x="868017" y="64603"/>
            <a:ext cx="9601200" cy="1485900"/>
          </a:xfrm>
        </p:spPr>
        <p:txBody>
          <a:bodyPr/>
          <a:lstStyle/>
          <a:p>
            <a:r>
              <a:rPr lang="en-US" b="1" u="sng" dirty="0"/>
              <a:t>BLOCK DIAGRAM</a:t>
            </a:r>
          </a:p>
        </p:txBody>
      </p:sp>
      <p:pic>
        <p:nvPicPr>
          <p:cNvPr id="5" name="Content Placeholder 4">
            <a:extLst>
              <a:ext uri="{FF2B5EF4-FFF2-40B4-BE49-F238E27FC236}">
                <a16:creationId xmlns:a16="http://schemas.microsoft.com/office/drawing/2014/main" id="{95F0A135-CB4B-41E7-9657-1BFBA7208AB2}"/>
              </a:ext>
            </a:extLst>
          </p:cNvPr>
          <p:cNvPicPr>
            <a:picLocks noGrp="1" noChangeAspect="1"/>
          </p:cNvPicPr>
          <p:nvPr>
            <p:ph idx="1"/>
          </p:nvPr>
        </p:nvPicPr>
        <p:blipFill>
          <a:blip r:embed="rId2"/>
          <a:stretch>
            <a:fillRect/>
          </a:stretch>
        </p:blipFill>
        <p:spPr>
          <a:xfrm>
            <a:off x="737696" y="861391"/>
            <a:ext cx="10518682" cy="5883965"/>
          </a:xfrm>
        </p:spPr>
      </p:pic>
    </p:spTree>
    <p:extLst>
      <p:ext uri="{BB962C8B-B14F-4D97-AF65-F5344CB8AC3E}">
        <p14:creationId xmlns:p14="http://schemas.microsoft.com/office/powerpoint/2010/main" val="2956381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45A73-E0DF-49E9-85F3-22E31A52EA33}"/>
              </a:ext>
            </a:extLst>
          </p:cNvPr>
          <p:cNvSpPr>
            <a:spLocks noGrp="1"/>
          </p:cNvSpPr>
          <p:nvPr>
            <p:ph type="ctrTitle"/>
          </p:nvPr>
        </p:nvSpPr>
        <p:spPr>
          <a:xfrm>
            <a:off x="1507067" y="553915"/>
            <a:ext cx="7766936" cy="650631"/>
          </a:xfrm>
        </p:spPr>
        <p:txBody>
          <a:bodyPr/>
          <a:lstStyle/>
          <a:p>
            <a:r>
              <a:rPr lang="en-IN" dirty="0"/>
              <a:t>Advantages </a:t>
            </a:r>
          </a:p>
        </p:txBody>
      </p:sp>
      <p:sp>
        <p:nvSpPr>
          <p:cNvPr id="3" name="Subtitle 2">
            <a:extLst>
              <a:ext uri="{FF2B5EF4-FFF2-40B4-BE49-F238E27FC236}">
                <a16:creationId xmlns:a16="http://schemas.microsoft.com/office/drawing/2014/main" id="{DCCB8877-BF90-4E05-B8B3-CFDD1B759BEA}"/>
              </a:ext>
            </a:extLst>
          </p:cNvPr>
          <p:cNvSpPr>
            <a:spLocks noGrp="1"/>
          </p:cNvSpPr>
          <p:nvPr>
            <p:ph type="subTitle" idx="1"/>
          </p:nvPr>
        </p:nvSpPr>
        <p:spPr>
          <a:xfrm>
            <a:off x="1507067" y="1204546"/>
            <a:ext cx="7766936" cy="4668715"/>
          </a:xfrm>
        </p:spPr>
        <p:txBody>
          <a:bodyPr>
            <a:normAutofit/>
          </a:bodyPr>
          <a:lstStyle/>
          <a:p>
            <a:pPr marL="285750" indent="-285750">
              <a:buFont typeface="Arial" panose="020B0604020202020204" pitchFamily="34" charset="0"/>
              <a:buChar char="•"/>
            </a:pPr>
            <a:r>
              <a:rPr lang="en-US" dirty="0"/>
              <a:t>Solar energy is a clean and renewable energy source. </a:t>
            </a:r>
          </a:p>
          <a:p>
            <a:pPr marL="285750" indent="-285750">
              <a:buFont typeface="Arial" panose="020B0604020202020204" pitchFamily="34" charset="0"/>
              <a:buChar char="•"/>
            </a:pPr>
            <a:r>
              <a:rPr lang="en-US" dirty="0"/>
              <a:t>Once a solar panel is installed, the energy is produced at reduced costs. Whereas the reserves of oil of the world are estimated to be depleted in future, solar energy will last forever.</a:t>
            </a:r>
          </a:p>
          <a:p>
            <a:pPr marL="285750" indent="-285750">
              <a:buFont typeface="Arial" panose="020B0604020202020204" pitchFamily="34" charset="0"/>
              <a:buChar char="•"/>
            </a:pPr>
            <a:r>
              <a:rPr lang="en-US" dirty="0"/>
              <a:t> It is pollution free. </a:t>
            </a:r>
          </a:p>
          <a:p>
            <a:pPr marL="285750" indent="-285750">
              <a:buFont typeface="Arial" panose="020B0604020202020204" pitchFamily="34" charset="0"/>
              <a:buChar char="•"/>
            </a:pPr>
            <a:r>
              <a:rPr lang="en-US" dirty="0"/>
              <a:t>Solar cells are free of any noise. On the other hand, various machines used for pumping oil or for power generation are noisy.</a:t>
            </a:r>
          </a:p>
          <a:p>
            <a:pPr marL="285750" indent="-285750">
              <a:buFont typeface="Arial" panose="020B0604020202020204" pitchFamily="34" charset="0"/>
              <a:buChar char="•"/>
            </a:pPr>
            <a:r>
              <a:rPr lang="en-US" dirty="0"/>
              <a:t>On average, it is possible to have a high return on investment because of the free energy solar panels produce</a:t>
            </a:r>
          </a:p>
          <a:p>
            <a:endParaRPr lang="en-IN" dirty="0"/>
          </a:p>
        </p:txBody>
      </p:sp>
    </p:spTree>
    <p:extLst>
      <p:ext uri="{BB962C8B-B14F-4D97-AF65-F5344CB8AC3E}">
        <p14:creationId xmlns:p14="http://schemas.microsoft.com/office/powerpoint/2010/main" val="1714154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25318-59C3-4742-9CEE-5E7A3B3D1ECD}"/>
              </a:ext>
            </a:extLst>
          </p:cNvPr>
          <p:cNvSpPr>
            <a:spLocks noGrp="1"/>
          </p:cNvSpPr>
          <p:nvPr>
            <p:ph type="ctrTitle"/>
          </p:nvPr>
        </p:nvSpPr>
        <p:spPr>
          <a:xfrm>
            <a:off x="1507067" y="79131"/>
            <a:ext cx="7766936" cy="826477"/>
          </a:xfrm>
        </p:spPr>
        <p:txBody>
          <a:bodyPr/>
          <a:lstStyle/>
          <a:p>
            <a:r>
              <a:rPr lang="en-IN" dirty="0"/>
              <a:t>Disadvantages</a:t>
            </a:r>
          </a:p>
        </p:txBody>
      </p:sp>
      <p:sp>
        <p:nvSpPr>
          <p:cNvPr id="3" name="Subtitle 2">
            <a:extLst>
              <a:ext uri="{FF2B5EF4-FFF2-40B4-BE49-F238E27FC236}">
                <a16:creationId xmlns:a16="http://schemas.microsoft.com/office/drawing/2014/main" id="{8D2E7409-FF4B-48E2-A14D-47CE9E35DFA2}"/>
              </a:ext>
            </a:extLst>
          </p:cNvPr>
          <p:cNvSpPr>
            <a:spLocks noGrp="1"/>
          </p:cNvSpPr>
          <p:nvPr>
            <p:ph type="subTitle" idx="1"/>
          </p:nvPr>
        </p:nvSpPr>
        <p:spPr>
          <a:xfrm>
            <a:off x="1507067" y="905609"/>
            <a:ext cx="7766936" cy="4242124"/>
          </a:xfrm>
        </p:spPr>
        <p:txBody>
          <a:bodyPr/>
          <a:lstStyle/>
          <a:p>
            <a:pPr marL="285750" indent="-285750">
              <a:buFont typeface="Arial" panose="020B0604020202020204" pitchFamily="34" charset="0"/>
              <a:buChar char="•"/>
            </a:pPr>
            <a:r>
              <a:rPr lang="en-US" dirty="0"/>
              <a:t>Solar panels can be costly to install resulting in a time lag of many years for savings on energy bills to match initial investments.</a:t>
            </a:r>
          </a:p>
          <a:p>
            <a:pPr marL="285750" indent="-285750">
              <a:buFont typeface="Arial" panose="020B0604020202020204" pitchFamily="34" charset="0"/>
              <a:buChar char="•"/>
            </a:pPr>
            <a:r>
              <a:rPr lang="en-US" dirty="0"/>
              <a:t>Generation of electricity from solar is dependent on the country’s exposure to sunlight. That means some countries are slightly disadvantaged.</a:t>
            </a:r>
          </a:p>
          <a:p>
            <a:pPr marL="285750" indent="-285750">
              <a:buFont typeface="Arial" panose="020B0604020202020204" pitchFamily="34" charset="0"/>
              <a:buChar char="•"/>
            </a:pPr>
            <a:r>
              <a:rPr lang="en-US" dirty="0"/>
              <a:t>Solar power stations do not match the power output of conventional power stations of similar size. Furthermore, they may be expensive to build.</a:t>
            </a:r>
            <a:br>
              <a:rPr lang="en-US" dirty="0"/>
            </a:br>
            <a:br>
              <a:rPr lang="en-US" dirty="0"/>
            </a:br>
            <a:r>
              <a:rPr lang="en-US" sz="2000" b="1" u="sng" dirty="0"/>
              <a:t>FINALLY,</a:t>
            </a:r>
          </a:p>
          <a:p>
            <a:pPr marL="285750" indent="-285750">
              <a:buFont typeface="Arial" panose="020B0604020202020204" pitchFamily="34" charset="0"/>
              <a:buChar char="•"/>
            </a:pPr>
            <a:r>
              <a:rPr lang="en-US" dirty="0"/>
              <a:t> As the merits are more than the demerits, the use of solar power is considered as a clean and viable source of energy. The various limitations can be reduced through various ways.</a:t>
            </a:r>
          </a:p>
        </p:txBody>
      </p:sp>
    </p:spTree>
    <p:extLst>
      <p:ext uri="{BB962C8B-B14F-4D97-AF65-F5344CB8AC3E}">
        <p14:creationId xmlns:p14="http://schemas.microsoft.com/office/powerpoint/2010/main" val="89833385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otalTime>0</TotalTime>
  <Words>917</Words>
  <Application>Microsoft Office PowerPoint</Application>
  <PresentationFormat>Widescreen</PresentationFormat>
  <Paragraphs>42</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Trebuchet MS</vt:lpstr>
      <vt:lpstr>Wingdings</vt:lpstr>
      <vt:lpstr>Wingdings 3</vt:lpstr>
      <vt:lpstr>Facet</vt:lpstr>
      <vt:lpstr>IOT BASED SOLAR TRACKER</vt:lpstr>
      <vt:lpstr>INTRODUCTION</vt:lpstr>
      <vt:lpstr>LITERATURE SURVEY:01 TOPIC:A Review on an Automatic Solar Tracking System</vt:lpstr>
      <vt:lpstr>LITERATURE TOPIC: Modeling and Designing of Solar Tracking System using Arduino</vt:lpstr>
      <vt:lpstr>Discussion:</vt:lpstr>
      <vt:lpstr>LITERATURE TOPIC:SOLAR TRACKING SYSTEM FOR AFRICA’S UNDERUTILIZED SOLAR POWER  </vt:lpstr>
      <vt:lpstr>Basic circuit diagram</vt:lpstr>
      <vt:lpstr>BLOCK DIAGRAM</vt:lpstr>
      <vt:lpstr>Advantages </vt:lpstr>
      <vt:lpstr>Disadvantages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BASED SOLAR TRACKER</dc:title>
  <cp:lastModifiedBy>AMOGH LONARE</cp:lastModifiedBy>
  <cp:revision>1</cp:revision>
  <dcterms:modified xsi:type="dcterms:W3CDTF">2022-03-07T08:55:04Z</dcterms:modified>
</cp:coreProperties>
</file>